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9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2" r:id="rId8"/>
    <p:sldId id="263" r:id="rId9"/>
    <p:sldId id="270" r:id="rId10"/>
    <p:sldId id="261" r:id="rId11"/>
    <p:sldId id="271" r:id="rId12"/>
    <p:sldId id="264" r:id="rId13"/>
    <p:sldId id="265" r:id="rId14"/>
  </p:sldIdLst>
  <p:sldSz cx="18288000" cy="10287000"/>
  <p:notesSz cx="6858000" cy="9144000"/>
  <p:embeddedFontLst>
    <p:embeddedFont>
      <p:font typeface="Archivo Black" panose="020B0604020202020204" charset="0"/>
      <p:regular r:id="rId15"/>
    </p:embeddedFont>
    <p:embeddedFont>
      <p:font typeface="Garet" panose="020B0604020202020204" charset="0"/>
      <p:regular r:id="rId16"/>
    </p:embeddedFont>
    <p:embeddedFont>
      <p:font typeface="Garet Bold" panose="020B0604020202020204" charset="0"/>
      <p:regular r:id="rId17"/>
    </p:embeddedFont>
    <p:embeddedFont>
      <p:font typeface="Garet Light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89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800" b="1">
                <a:solidFill>
                  <a:srgbClr val="000000"/>
                </a:solidFill>
                <a:latin typeface="Garet Bold"/>
              </a:rPr>
              <a:t>Score given to a keyword-stuffed resume (out of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A8A8A8"/>
              </a:solidFill>
            </c:spPr>
            <c:extLst>
              <c:ext xmlns:c16="http://schemas.microsoft.com/office/drawing/2014/chart" uri="{C3380CC4-5D6E-409C-BE32-E72D297353CC}">
                <c16:uniqueId val="{00000001-893E-4A24-860B-49653FD0171E}"/>
              </c:ext>
            </c:extLst>
          </c:dPt>
          <c:dPt>
            <c:idx val="1"/>
            <c:invertIfNegative val="1"/>
            <c:bubble3D val="0"/>
            <c:spPr>
              <a:solidFill>
                <a:srgbClr val="000000"/>
              </a:solidFill>
            </c:spPr>
            <c:extLst>
              <c:ext xmlns:c16="http://schemas.microsoft.com/office/drawing/2014/chart" uri="{C3380CC4-5D6E-409C-BE32-E72D297353CC}">
                <c16:uniqueId val="{00000003-893E-4A24-860B-49653FD0171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Legacy ATS</c:v>
                </c:pt>
                <c:pt idx="1">
                  <c:v>Noetrix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94.2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3E-4A24-860B-49653FD017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600">
          <a:solidFill>
            <a:srgbClr val="000000"/>
          </a:solidFill>
          <a:latin typeface="Gare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800" b="1">
                <a:solidFill>
                  <a:srgbClr val="000000"/>
                </a:solidFill>
                <a:latin typeface="Garet Bold"/>
              </a:rPr>
              <a:t>Best-case time to screen 20 resumes (seconds)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A8A8A8"/>
              </a:solidFill>
            </c:spPr>
            <c:extLst>
              <c:ext xmlns:c16="http://schemas.microsoft.com/office/drawing/2014/chart" uri="{C3380CC4-5D6E-409C-BE32-E72D297353CC}">
                <c16:uniqueId val="{00000001-0B75-4A8F-8D84-4A940DAEDA39}"/>
              </c:ext>
            </c:extLst>
          </c:dPt>
          <c:dPt>
            <c:idx val="1"/>
            <c:invertIfNegative val="1"/>
            <c:bubble3D val="0"/>
            <c:spPr>
              <a:solidFill>
                <a:srgbClr val="A8A8A8"/>
              </a:solidFill>
            </c:spPr>
            <c:extLst>
              <c:ext xmlns:c16="http://schemas.microsoft.com/office/drawing/2014/chart" uri="{C3380CC4-5D6E-409C-BE32-E72D297353CC}">
                <c16:uniqueId val="{00000003-0B75-4A8F-8D84-4A940DAEDA39}"/>
              </c:ext>
            </c:extLst>
          </c:dPt>
          <c:dPt>
            <c:idx val="2"/>
            <c:invertIfNegative val="1"/>
            <c:bubble3D val="0"/>
            <c:spPr>
              <a:solidFill>
                <a:srgbClr val="000000"/>
              </a:solidFill>
            </c:spPr>
            <c:extLst>
              <c:ext xmlns:c16="http://schemas.microsoft.com/office/drawing/2014/chart" uri="{C3380CC4-5D6E-409C-BE32-E72D297353CC}">
                <c16:uniqueId val="{00000005-0B75-4A8F-8D84-4A940DAEDA39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Legacy ATS</c:v>
                </c:pt>
                <c:pt idx="1">
                  <c:v>Pure LLM</c:v>
                </c:pt>
                <c:pt idx="2">
                  <c:v>Noetrix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96</c:v>
                </c:pt>
                <c:pt idx="2">
                  <c:v>0.89200000000000002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B75-4A8F-8D84-4A940DAEDA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600">
          <a:solidFill>
            <a:srgbClr val="000000"/>
          </a:solidFill>
          <a:latin typeface="Garet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jpe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hyperlink" Target="https://noetrix-virid.vercel.app/" TargetMode="External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png"/><Relationship Id="rId6" Type="http://schemas.openxmlformats.org/officeDocument/2006/relationships/image" Target="../media/image21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1.png"/><Relationship Id="rId6" Type="http://schemas.openxmlformats.org/officeDocument/2006/relationships/image" Target="../media/image1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2.png"/><Relationship Id="rId4" Type="http://schemas.openxmlformats.org/officeDocument/2006/relationships/image" Target="../media/image23.svg"/><Relationship Id="rId5" Type="http://schemas.openxmlformats.org/officeDocument/2006/relationships/image" Target="../media/image24.png"/><Relationship Id="rId6" Type="http://schemas.openxmlformats.org/officeDocument/2006/relationships/image" Target="../media/image2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16.png"/><Relationship Id="rId4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8.png"/><Relationship Id="rId4" Type="http://schemas.openxmlformats.org/officeDocument/2006/relationships/image" Target="../media/image2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37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 dirty="0"/>
          </a:p>
        </p:txBody>
      </p:sp>
      <p:pic>
        <p:nvPicPr>
          <p:cNvPr id="1030" name="Picture 6" descr="Noetrix Logo">
            <a:extLst>
              <a:ext uri="{FF2B5EF4-FFF2-40B4-BE49-F238E27FC236}">
                <a16:creationId xmlns:a16="http://schemas.microsoft.com/office/drawing/2014/main" id="{145CF2BE-8B9C-02C4-7F93-7B7227053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44176"/>
            <a:ext cx="2645947" cy="2645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reeform 3"/>
          <p:cNvSpPr/>
          <p:nvPr/>
        </p:nvSpPr>
        <p:spPr>
          <a:xfrm>
            <a:off x="15379298" y="8311463"/>
            <a:ext cx="1880002" cy="946837"/>
          </a:xfrm>
          <a:custGeom>
            <a:avLst/>
            <a:gdLst/>
            <a:ahLst/>
            <a:cxnLst/>
            <a:rect l="l" t="t" r="r" b="b"/>
            <a:pathLst>
              <a:path w="1880002" h="946837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885470" y="6394076"/>
            <a:ext cx="9373830" cy="734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3200" spc="-217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Explainable resume screening and tailoring with </a:t>
            </a:r>
            <a:r>
              <a:rPr lang="en-US" sz="3200" spc="-217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guardrailed</a:t>
            </a:r>
            <a:r>
              <a:rPr lang="en-US" sz="3200" spc="-217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generative 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810500"/>
            <a:ext cx="3366096" cy="29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NAME OF PROJECT: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099527"/>
            <a:ext cx="3366096" cy="29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Noetrix</a:t>
            </a:r>
            <a:endParaRPr lang="en-US" sz="2400" b="1" dirty="0">
              <a:solidFill>
                <a:srgbClr val="2B2B2B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11104" y="7810500"/>
            <a:ext cx="3366096" cy="29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11104" y="8099527"/>
            <a:ext cx="428049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sz="2200">
                <a:latin typeface="Garet"/>
              </a:rPr>
              <a:t>Dhrubojyoti Hazra</a:t>
            </a:r>
          </a:p>
          <a:p>
            <a:pPr marL="342900" lvl="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sz="2200">
                <a:latin typeface="Garet"/>
              </a:rPr>
              <a:t>Isheeka Mukhopadhyay</a:t>
            </a:r>
          </a:p>
          <a:p>
            <a:pPr marL="342900" lvl="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sz="2200">
                <a:latin typeface="Garet"/>
              </a:rPr>
              <a:t>Samprikta De</a:t>
            </a:r>
          </a:p>
          <a:p>
            <a:pPr marL="342900" lvl="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sz="2200">
                <a:latin typeface="Garet"/>
              </a:rPr>
              <a:t>Adhiraj Das</a:t>
            </a:r>
          </a:p>
          <a:p>
            <a:pPr marL="342900" lvl="0" indent="-342900" algn="l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sz="2200">
                <a:latin typeface="Garet"/>
              </a:rPr>
              <a:t>Tiyasha Baidya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30704" y="7810500"/>
            <a:ext cx="3366096" cy="29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TO: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30704" y="8099527"/>
            <a:ext cx="3823296" cy="832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079"/>
              </a:lnSpc>
              <a:spcBef>
                <a:spcPct val="0"/>
              </a:spcBef>
            </a:pPr>
            <a:r>
              <a:rPr lang="en-US" sz="2400" dirty="0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Mr. Mahendra Dutta, Industry Mentor, Ardent </a:t>
            </a:r>
            <a:r>
              <a:rPr lang="en-US" sz="2400" dirty="0" err="1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Computech</a:t>
            </a:r>
            <a:r>
              <a:rPr lang="en-US" sz="2400" dirty="0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 Pvt. Ltd.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68701" y="990600"/>
            <a:ext cx="4321082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Brainware University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Dept. of CSE (CS &amp; DS) | Oct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88760" y="954405"/>
            <a:ext cx="517054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Capstone Engineering Project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582400" y="982048"/>
            <a:ext cx="338117" cy="338117"/>
          </a:xfrm>
          <a:custGeom>
            <a:avLst/>
            <a:gdLst/>
            <a:ahLst/>
            <a:cxnLst/>
            <a:rect l="l" t="t" r="r" b="b"/>
            <a:pathLst>
              <a:path w="338117" h="338117">
                <a:moveTo>
                  <a:pt x="0" y="0"/>
                </a:moveTo>
                <a:lnTo>
                  <a:pt x="338118" y="0"/>
                </a:lnTo>
                <a:lnTo>
                  <a:pt x="338118" y="338117"/>
                </a:lnTo>
                <a:lnTo>
                  <a:pt x="0" y="3381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6485854" y="2705100"/>
            <a:ext cx="10773446" cy="2304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u="none" spc="-85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NOETRIX</a:t>
            </a:r>
          </a:p>
          <a:p>
            <a:pPr marL="0" lvl="0" indent="0" algn="r">
              <a:lnSpc>
                <a:spcPts val="8490"/>
              </a:lnSpc>
              <a:spcBef>
                <a:spcPct val="0"/>
              </a:spcBef>
            </a:pPr>
            <a:r>
              <a:rPr lang="en-US" sz="10885" u="none" spc="-859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PITCH DECK</a:t>
            </a:r>
          </a:p>
        </p:txBody>
      </p:sp>
      <p:pic>
        <p:nvPicPr>
          <p:cNvPr id="1026" name="Picture 2" descr="Internship, Summer Training, Industrial Training Courses in Kolkata- Ardent">
            <a:extLst>
              <a:ext uri="{FF2B5EF4-FFF2-40B4-BE49-F238E27FC236}">
                <a16:creationId xmlns:a16="http://schemas.microsoft.com/office/drawing/2014/main" id="{80FC349A-C7BE-EC48-F8FA-4206CFB62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128064"/>
            <a:ext cx="4760713" cy="119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rainware University Blogs Blogs for latest news">
            <a:extLst>
              <a:ext uri="{FF2B5EF4-FFF2-40B4-BE49-F238E27FC236}">
                <a16:creationId xmlns:a16="http://schemas.microsoft.com/office/drawing/2014/main" id="{785F5903-2CD4-6682-BCD5-4BF25ED3A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264" y="394670"/>
            <a:ext cx="1512871" cy="151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199594" y="1814513"/>
          <a:ext cx="5891416" cy="6572248"/>
        </p:xfrm>
        <a:graphic>
          <a:graphicData uri="http://schemas.openxmlformats.org/drawingml/2006/table">
            <a:tbl>
              <a:tblPr/>
              <a:tblGrid>
                <a:gridCol w="866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03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Overview &amp; Problem Statement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04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Objectives &amp; Core Pillars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05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Candidate &amp; Recruiter Doors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06-07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Scoring Engine &amp; Pipeline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08-09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Guardrailed GenAI &amp; Tech Stack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10-11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Benchmarks &amp; Empirical Results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12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Engineering Team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13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Live Demo &amp; Project Links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845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231538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3430366" y="4880657"/>
            <a:ext cx="3828934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Noetrix</a:t>
            </a: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shows candidates what the ATS sees and gives recruiters auditable, merit-based rankings.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52166" y="4073525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solution. Noetrix: one system with deterministic six-metric scoring and guardrailed generative AI.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3466" y="4073525"/>
            <a:ext cx="788338" cy="3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7601" y="1129691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problem. Commercial ATS tools are black boxes that keyword stuffing, prestige bias and AI hallucination can fool.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129691"/>
            <a:ext cx="467670" cy="392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55907" y="4001198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05427" y="8892540"/>
            <a:ext cx="415387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39"/>
              </a:lnSpc>
              <a:spcBef>
                <a:spcPct val="0"/>
              </a:spcBef>
            </a:pPr>
            <a:r>
              <a:rPr lang="en-US" sz="2099" u="none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3"/>
              </a:rPr>
              <a:t>noetrix-virid.vercel.app</a:t>
            </a:r>
            <a:endParaRPr lang="en-US" sz="2099" u="none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35707" y="7017359"/>
            <a:ext cx="691532" cy="3924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32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6732" y="7017359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000">
                <a:latin typeface="Garet"/>
              </a:rPr>
              <a:t>The outcome. Reproducible scores, 42.4 ms per resume, no invented metrics, and zero server-side storage.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0683AB-744D-274F-AFD6-63D71FCBA8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1176"/>
          <a:stretch>
            <a:fillRect/>
          </a:stretch>
        </p:blipFill>
        <p:spPr>
          <a:xfrm>
            <a:off x="5445807" y="0"/>
            <a:ext cx="720339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8685431"/>
            <a:ext cx="18288000" cy="120428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9258300"/>
            <a:ext cx="182880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2095936" y="5404604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8307737" y="5404604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4519538" y="5404604"/>
            <a:ext cx="1672526" cy="702461"/>
          </a:xfrm>
          <a:custGeom>
            <a:avLst/>
            <a:gdLst/>
            <a:ahLst/>
            <a:cxnLst/>
            <a:rect l="l" t="t" r="r" b="b"/>
            <a:pathLst>
              <a:path w="1672526" h="702461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10800000">
            <a:off x="11159450" y="-140976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28700" y="1557564"/>
            <a:ext cx="9518783" cy="7648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 and Goals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190994"/>
            <a:ext cx="882335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Five engineering objectives, delivered as three pillars.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475512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Auditable Scores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40501" y="6475512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Zero Fabrication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4020" y="7078855"/>
            <a:ext cx="501635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000">
                <a:latin typeface="Garet"/>
              </a:rPr>
              <a:t>Six weighted metrics with discounted skills-list credit stop keyword stuffing; 50-point cap flags missing must-haves.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35821" y="7078855"/>
            <a:ext cx="501635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Bullets become Google XYZ statements; a validator blocks invented numbers or skills.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52302" y="6475512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Privacy by Design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47622" y="7078855"/>
            <a:ext cx="501635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Stateless in-memory sessions with PII redaction, delivered through two portals.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028700" y="886898"/>
            <a:ext cx="6362700" cy="4121056"/>
            <a:chOff x="0" y="0"/>
            <a:chExt cx="8916670" cy="6694043"/>
          </a:xfrm>
        </p:grpSpPr>
        <p:sp>
          <p:nvSpPr>
            <p:cNvPr id="4" name="Freeform 4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028700" y="5279046"/>
            <a:ext cx="6353638" cy="4121056"/>
            <a:chOff x="0" y="0"/>
            <a:chExt cx="8916670" cy="6694043"/>
          </a:xfrm>
        </p:grpSpPr>
        <p:sp>
          <p:nvSpPr>
            <p:cNvPr id="7" name="Freeform 7"/>
            <p:cNvSpPr/>
            <p:nvPr/>
          </p:nvSpPr>
          <p:spPr>
            <a:xfrm>
              <a:off x="155575" y="155575"/>
              <a:ext cx="8605520" cy="6382893"/>
            </a:xfrm>
            <a:custGeom>
              <a:avLst/>
              <a:gdLst/>
              <a:ahLst/>
              <a:cxnLst/>
              <a:rect l="l" t="t" r="r" b="b"/>
              <a:pathLst>
                <a:path w="8605520" h="6382893">
                  <a:moveTo>
                    <a:pt x="0" y="0"/>
                  </a:moveTo>
                  <a:lnTo>
                    <a:pt x="8605520" y="0"/>
                  </a:lnTo>
                  <a:lnTo>
                    <a:pt x="8605520" y="6382893"/>
                  </a:lnTo>
                  <a:lnTo>
                    <a:pt x="0" y="6382893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8" name="Freeform 8"/>
            <p:cNvSpPr/>
            <p:nvPr/>
          </p:nvSpPr>
          <p:spPr>
            <a:xfrm>
              <a:off x="6350" y="6350"/>
              <a:ext cx="8903970" cy="6681343"/>
            </a:xfrm>
            <a:custGeom>
              <a:avLst/>
              <a:gdLst/>
              <a:ahLst/>
              <a:cxnLst/>
              <a:rect l="l" t="t" r="r" b="b"/>
              <a:pathLst>
                <a:path w="8903970" h="6681343">
                  <a:moveTo>
                    <a:pt x="8903970" y="6681343"/>
                  </a:moveTo>
                  <a:lnTo>
                    <a:pt x="0" y="6681343"/>
                  </a:lnTo>
                  <a:lnTo>
                    <a:pt x="0" y="0"/>
                  </a:lnTo>
                  <a:lnTo>
                    <a:pt x="8903970" y="0"/>
                  </a:lnTo>
                  <a:lnTo>
                    <a:pt x="8903970" y="6681343"/>
                  </a:lnTo>
                  <a:close/>
                  <a:moveTo>
                    <a:pt x="19050" y="6662293"/>
                  </a:moveTo>
                  <a:lnTo>
                    <a:pt x="8884920" y="6662293"/>
                  </a:lnTo>
                  <a:lnTo>
                    <a:pt x="8884920" y="19050"/>
                  </a:lnTo>
                  <a:lnTo>
                    <a:pt x="19050" y="19050"/>
                  </a:lnTo>
                  <a:lnTo>
                    <a:pt x="19050" y="6662293"/>
                  </a:lnTo>
                  <a:close/>
                  <a:moveTo>
                    <a:pt x="8764270" y="6541643"/>
                  </a:moveTo>
                  <a:lnTo>
                    <a:pt x="139700" y="6541643"/>
                  </a:lnTo>
                  <a:lnTo>
                    <a:pt x="139700" y="139700"/>
                  </a:lnTo>
                  <a:lnTo>
                    <a:pt x="8764270" y="139700"/>
                  </a:lnTo>
                  <a:lnTo>
                    <a:pt x="8764270" y="6541643"/>
                  </a:lnTo>
                  <a:close/>
                  <a:moveTo>
                    <a:pt x="158750" y="6522593"/>
                  </a:moveTo>
                  <a:lnTo>
                    <a:pt x="8745220" y="6522593"/>
                  </a:lnTo>
                  <a:lnTo>
                    <a:pt x="8745220" y="158750"/>
                  </a:lnTo>
                  <a:lnTo>
                    <a:pt x="158750" y="158750"/>
                  </a:lnTo>
                  <a:lnTo>
                    <a:pt x="158750" y="65225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4564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055907" y="4218713"/>
            <a:ext cx="7203393" cy="78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Dual Portal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51860" y="5712804"/>
            <a:ext cx="8007440" cy="2231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293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Candidate Door: upload a CV, see what the ATS sees, read the score breakdown and tailor weak bullets. </a:t>
            </a:r>
          </a:p>
          <a:p>
            <a:pPr marL="342900" indent="-342900">
              <a:lnSpc>
                <a:spcPts val="2939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Recruiter Door: batch-upload resumes, set weights, rank with tie-break telemetry and open candidate dossiers.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199594" y="1814513"/>
          <a:ext cx="5891416" cy="6572248"/>
        </p:xfrm>
        <a:graphic>
          <a:graphicData uri="http://schemas.openxmlformats.org/drawingml/2006/table">
            <a:tbl>
              <a:tblPr/>
              <a:tblGrid>
                <a:gridCol w="12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1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30%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latin typeface="Garet"/>
                        </a:rPr>
                        <a:t>Keyword match &amp; taxonomy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20%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latin typeface="Garet"/>
                        </a:rPr>
                        <a:t>Semantic fit (all-MiniLM-L6-v2)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20%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latin typeface="Garet"/>
                        </a:rPr>
                        <a:t>Experience &amp; seniority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10%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latin typeface="Garet"/>
                        </a:rPr>
                        <a:t>Education, prestige-free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10%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latin typeface="Garet"/>
                        </a:rPr>
                        <a:t>Quantified impact metrics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10%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latin typeface="Garet"/>
                        </a:rPr>
                        <a:t>ATS format hygiene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CAP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latin typeface="Garet"/>
                        </a:rPr>
                        <a:t>Must-have soft knockout (&lt;50%)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531">
                <a:tc>
                  <a:txBody>
                    <a:bodyPr/>
                    <a:lstStyle/>
                    <a:p>
                      <a:r>
                        <a:rPr b="1" sz="2000">
                          <a:latin typeface="Garet"/>
                        </a:rPr>
                        <a:t>TIE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b="1" sz="1900">
                          <a:latin typeface="Garet"/>
                        </a:rPr>
                        <a:t>Six-tier deterministic tie-break</a:t>
                      </a:r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18457" y="1559650"/>
            <a:ext cx="91255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2002938" y="2439692"/>
            <a:ext cx="6531462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Scoring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 flipV="1">
            <a:off x="0" y="8805858"/>
            <a:ext cx="18288000" cy="10119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AutoShape 4"/>
          <p:cNvSpPr/>
          <p:nvPr/>
        </p:nvSpPr>
        <p:spPr>
          <a:xfrm flipV="1">
            <a:off x="0" y="9334500"/>
            <a:ext cx="18288000" cy="10523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28700" y="4292535"/>
            <a:ext cx="13838306" cy="0"/>
          </a:xfrm>
          <a:prstGeom prst="line">
            <a:avLst/>
          </a:prstGeom>
          <a:ln w="190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 rot="5400000">
            <a:off x="15074698" y="3103895"/>
            <a:ext cx="1629446" cy="2396244"/>
          </a:xfrm>
          <a:custGeom>
            <a:avLst/>
            <a:gdLst/>
            <a:ahLst/>
            <a:cxnLst/>
            <a:rect l="l" t="t" r="r" b="b"/>
            <a:pathLst>
              <a:path w="1629446" h="2396244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1028700" y="1162887"/>
            <a:ext cx="5683548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How It Works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127374"/>
            <a:ext cx="672056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From raw resume to auditable ranking in four stages.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67082" y="5640615"/>
            <a:ext cx="2277734" cy="1177392"/>
            <a:chOff x="0" y="0"/>
            <a:chExt cx="3036979" cy="156985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1. Ingest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Parse PDF, DOCX or TXT into sections, contacts and skills.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005388" y="5640615"/>
            <a:ext cx="2277734" cy="1177392"/>
            <a:chOff x="0" y="0"/>
            <a:chExt cx="3036979" cy="156985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2. Score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Six metrics with local MiniLM embeddings and a 50-point knockout cap.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82075" y="5640615"/>
            <a:ext cx="2277734" cy="1177392"/>
            <a:chOff x="0" y="0"/>
            <a:chExt cx="3036979" cy="156985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28575"/>
              <a:ext cx="3036979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3. Guard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22859"/>
              <a:ext cx="3036979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PII redacted, LLM rewrites checked by the Zero-Fabrication Validator.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963582" y="5640615"/>
            <a:ext cx="4123962" cy="1177392"/>
            <a:chOff x="0" y="0"/>
            <a:chExt cx="5498615" cy="1569856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28575"/>
              <a:ext cx="5498615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4. Rank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22859"/>
              <a:ext cx="5498615" cy="9469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Six-tier tie-break leaderboard, dossier drawer, PDF and CSV export.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028700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5005388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8982075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5" name="Freeform 25"/>
          <p:cNvSpPr/>
          <p:nvPr/>
        </p:nvSpPr>
        <p:spPr>
          <a:xfrm>
            <a:off x="12958763" y="4102116"/>
            <a:ext cx="380752" cy="380752"/>
          </a:xfrm>
          <a:custGeom>
            <a:avLst/>
            <a:gdLst/>
            <a:ahLst/>
            <a:cxnLst/>
            <a:rect l="l" t="t" r="r" b="b"/>
            <a:pathLst>
              <a:path w="380752" h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8572509"/>
            <a:ext cx="18288000" cy="76191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9305925"/>
            <a:ext cx="18288000" cy="104775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/>
          <p:nvPr/>
        </p:nvGrpSpPr>
        <p:grpSpPr>
          <a:xfrm>
            <a:off x="12012930" y="2215233"/>
            <a:ext cx="5246370" cy="524637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161405"/>
            <a:ext cx="7203393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Guardrailed</a:t>
            </a:r>
          </a:p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Tailoring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234879"/>
            <a:ext cx="8007440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 LLM rewrites weak bullets into Google XYZ statements. A deterministic validator then checks every rewrite for new numbers, new skills, edited titles or reversed meaning. Any failure falls back to rule-based edits, and the candidate accepts or rejects each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5543434" y="0"/>
            <a:ext cx="7201132" cy="10287000"/>
            <a:chOff x="0" y="0"/>
            <a:chExt cx="9601509" cy="1371600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id="5" name="TextBox 5"/>
          <p:cNvSpPr txBox="1"/>
          <p:nvPr/>
        </p:nvSpPr>
        <p:spPr>
          <a:xfrm>
            <a:off x="13430366" y="4880657"/>
            <a:ext cx="3828934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decoupled three-tier design: presentation, API services, and a stateless analytics and GenAI layer.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52166" y="4073525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Backend and NLP. FastAPI on Render, pdfplumber, Sentence-Transformers, scikit-learn.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4134" y="4073525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67601" y="1129691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000">
                <a:latin typeface="Garet"/>
              </a:rPr>
              <a:t>Frontend. Next.js 15, React 19, TypeScript and Tailwind CSS, hosted on Vercel.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129691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55907" y="4001198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Tech Stack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05427" y="8892540"/>
            <a:ext cx="4153873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noetrix-api.onrender.com/docs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9569" y="7017359"/>
            <a:ext cx="467670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6732" y="7017359"/>
            <a:ext cx="3120902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1900">
                <a:latin typeface="Garet"/>
              </a:rPr>
              <a:t>Generative AI. Groq LLaMA 3.3 70B / 8B (temp 0), SHA-256 cache, Pydantic schemas, offline rules fallback.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067082" y="1009650"/>
            <a:ext cx="8115300" cy="116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Benchmarks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7082" y="2365608"/>
            <a:ext cx="8076918" cy="331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1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Noetrix against legacy keyword ATS and zero-shot LLM screening.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3796030"/>
            <a:ext cx="7664150" cy="815442"/>
            <a:chOff x="0" y="0"/>
            <a:chExt cx="10218867" cy="1087256"/>
          </a:xfrm>
        </p:grpSpPr>
        <p:sp>
          <p:nvSpPr>
            <p:cNvPr id="7" name="TextBox 7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Legacy ATS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Gave 94.2% to a keyword-stuffed resume.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67082" y="5468744"/>
            <a:ext cx="7664150" cy="815442"/>
            <a:chOff x="0" y="0"/>
            <a:chExt cx="10218867" cy="108725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Pure LLM screening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Non-deterministic (+/-8.4 points), hallucination risk.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7141436"/>
            <a:ext cx="7664150" cy="815442"/>
            <a:chOff x="0" y="0"/>
            <a:chExt cx="10218867" cy="1087256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28575"/>
              <a:ext cx="10218867" cy="53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4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Noetrix hybrid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22859"/>
              <a:ext cx="10218867" cy="4643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Capped stuffed resumes at 50; identical scores every run.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547818" y="981075"/>
            <a:ext cx="37114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10/13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9300000" y="1750000"/>
          <a:ext cx="8300000" cy="33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9300000" y="5300000"/>
          <a:ext cx="8300000" cy="3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116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8738354"/>
            <a:ext cx="18288000" cy="67505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9221731"/>
            <a:ext cx="18288000" cy="112769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8"/>
          <p:cNvSpPr/>
          <p:nvPr/>
        </p:nvSpPr>
        <p:spPr>
          <a:xfrm rot="-10800000">
            <a:off x="11159450" y="38099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28700" y="1557564"/>
            <a:ext cx="7279037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Results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82445" y="981075"/>
            <a:ext cx="2876855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190994"/>
            <a:ext cx="882335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Verified in the report's empirical evaluation.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6475512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Reproducible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40501" y="6475512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Per resume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2199" y="7078855"/>
            <a:ext cx="4300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Zero variance across repeated runs; no score jitter.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94000" y="7078855"/>
            <a:ext cx="4300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Per resume on CPU only; 20 resumes ranked in 0.892 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52302" y="6475512"/>
            <a:ext cx="380699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Tests passed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5801" y="7078855"/>
            <a:ext cx="430000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Unit, integration and guardrail tests all pass.</a:t>
            </a:r>
          </a:p>
        </p:txBody>
      </p:sp>
      <p:sp>
        <p:nvSpPr>
          <p:cNvPr id="18" name="TextBox 9"/>
          <p:cNvSpPr txBox="1"/>
          <p:nvPr/>
        </p:nvSpPr>
        <p:spPr>
          <a:xfrm>
            <a:off x="1028700" y="5150000"/>
            <a:ext cx="3806998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8"/>
              </a:lnSpc>
              <a:spcBef>
                <a:spcPct val="0"/>
              </a:spcBef>
            </a:pPr>
            <a:r>
              <a:rPr lang="en-US" sz="6600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100%</a:t>
            </a:r>
          </a:p>
        </p:txBody>
      </p:sp>
      <p:sp>
        <p:nvSpPr>
          <p:cNvPr id="19" name="TextBox 9"/>
          <p:cNvSpPr txBox="1"/>
          <p:nvPr/>
        </p:nvSpPr>
        <p:spPr>
          <a:xfrm>
            <a:off x="7240501" y="5150000"/>
            <a:ext cx="3806998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08"/>
              </a:lnSpc>
              <a:spcBef>
                <a:spcPct val="0"/>
              </a:spcBef>
            </a:pPr>
            <a:r>
              <a:rPr lang="en-US" sz="6600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42.4 ms</a:t>
            </a:r>
          </a:p>
        </p:txBody>
      </p:sp>
      <p:sp>
        <p:nvSpPr>
          <p:cNvPr id="20" name="TextBox 9"/>
          <p:cNvSpPr txBox="1"/>
          <p:nvPr/>
        </p:nvSpPr>
        <p:spPr>
          <a:xfrm>
            <a:off x="13452302" y="5150000"/>
            <a:ext cx="3806998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6600">
                <a:latin typeface="Archivo Black"/>
              </a:rPr>
              <a:t>71/71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8648700"/>
            <a:ext cx="182880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9334499"/>
            <a:ext cx="18288000" cy="1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028700" y="2500000"/>
            <a:ext cx="2900000" cy="2900000"/>
            <a:chOff x="0" y="0"/>
            <a:chExt cx="8790178" cy="8790178"/>
          </a:xfrm>
        </p:grpSpPr>
        <p:sp>
          <p:nvSpPr>
            <p:cNvPr id="6" name="Freeform 6"/>
            <p:cNvSpPr/>
            <p:nvPr/>
          </p:nvSpPr>
          <p:spPr>
            <a:xfrm>
              <a:off x="149225" y="149225"/>
              <a:ext cx="8491728" cy="8491728"/>
            </a:xfrm>
            <a:custGeom>
              <a:avLst/>
              <a:gdLst/>
              <a:ahLst/>
              <a:cxnLst/>
              <a:rect l="l" t="t" r="r" b="b"/>
              <a:pathLst>
                <a:path w="8491728" h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8790178" cy="8790178"/>
            </a:xfrm>
            <a:custGeom>
              <a:avLst/>
              <a:gdLst/>
              <a:ahLst/>
              <a:cxnLst/>
              <a:rect l="l" t="t" r="r" b="b"/>
              <a:pathLst>
                <a:path w="8790178" h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4361350" y="2500000"/>
            <a:ext cx="2900000" cy="2900000"/>
            <a:chOff x="0" y="0"/>
            <a:chExt cx="8790178" cy="8790178"/>
          </a:xfrm>
        </p:grpSpPr>
        <p:sp>
          <p:nvSpPr>
            <p:cNvPr id="9" name="Freeform 9"/>
            <p:cNvSpPr/>
            <p:nvPr/>
          </p:nvSpPr>
          <p:spPr>
            <a:xfrm>
              <a:off x="149225" y="149225"/>
              <a:ext cx="8491728" cy="8491728"/>
            </a:xfrm>
            <a:custGeom>
              <a:avLst/>
              <a:gdLst/>
              <a:ahLst/>
              <a:cxnLst/>
              <a:rect l="l" t="t" r="r" b="b"/>
              <a:pathLst>
                <a:path w="8491728" h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8790178" cy="8790178"/>
            </a:xfrm>
            <a:custGeom>
              <a:avLst/>
              <a:gdLst/>
              <a:ahLst/>
              <a:cxnLst/>
              <a:rect l="l" t="t" r="r" b="b"/>
              <a:pathLst>
                <a:path w="8790178" h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7694000" y="2500000"/>
            <a:ext cx="2900000" cy="2900000"/>
            <a:chOff x="0" y="0"/>
            <a:chExt cx="8790178" cy="8790178"/>
          </a:xfrm>
        </p:grpSpPr>
        <p:sp>
          <p:nvSpPr>
            <p:cNvPr id="12" name="Freeform 12"/>
            <p:cNvSpPr/>
            <p:nvPr/>
          </p:nvSpPr>
          <p:spPr>
            <a:xfrm>
              <a:off x="149225" y="149225"/>
              <a:ext cx="8491728" cy="8491728"/>
            </a:xfrm>
            <a:custGeom>
              <a:avLst/>
              <a:gdLst/>
              <a:ahLst/>
              <a:cxnLst/>
              <a:rect l="l" t="t" r="r" b="b"/>
              <a:pathLst>
                <a:path w="8491728" h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8790178" cy="8790178"/>
            </a:xfrm>
            <a:custGeom>
              <a:avLst/>
              <a:gdLst/>
              <a:ahLst/>
              <a:cxnLst/>
              <a:rect l="l" t="t" r="r" b="b"/>
              <a:pathLst>
                <a:path w="8790178" h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1026650" y="2500000"/>
            <a:ext cx="2900000" cy="2900000"/>
            <a:chOff x="0" y="0"/>
            <a:chExt cx="8790178" cy="8790178"/>
          </a:xfrm>
        </p:grpSpPr>
        <p:sp>
          <p:nvSpPr>
            <p:cNvPr id="15" name="Freeform 15"/>
            <p:cNvSpPr/>
            <p:nvPr/>
          </p:nvSpPr>
          <p:spPr>
            <a:xfrm>
              <a:off x="149225" y="149225"/>
              <a:ext cx="8491728" cy="8491728"/>
            </a:xfrm>
            <a:custGeom>
              <a:avLst/>
              <a:gdLst/>
              <a:ahLst/>
              <a:cxnLst/>
              <a:rect l="l" t="t" r="r" b="b"/>
              <a:pathLst>
                <a:path w="8491728" h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8790178" cy="8790178"/>
            </a:xfrm>
            <a:custGeom>
              <a:avLst/>
              <a:gdLst/>
              <a:ahLst/>
              <a:cxnLst/>
              <a:rect l="l" t="t" r="r" b="b"/>
              <a:pathLst>
                <a:path w="8790178" h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166354" y="7500000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5499004" y="7500000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8831654" y="7500000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2164304" y="7500000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5542303" y="1123950"/>
            <a:ext cx="7203393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8700" y="5750000"/>
            <a:ext cx="3300000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Dhrubojyoti Hazra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61350" y="5750000"/>
            <a:ext cx="3300000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Isheeka Mukhopadhyay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8700" y="6250000"/>
            <a:ext cx="3300000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Architecture and Deployment</a:t>
            </a:r>
          </a:p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BWU/BTD/23/015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61350" y="6250000"/>
            <a:ext cx="3300000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Document Parsing</a:t>
            </a:r>
          </a:p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BWU/BTD/23/042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94000" y="5750000"/>
            <a:ext cx="3300000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Samprikta De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94000" y="6250000"/>
            <a:ext cx="3300000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Scoring and Ranking</a:t>
            </a:r>
          </a:p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BWU/BTD/23/056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826650" y="5750000"/>
            <a:ext cx="3300000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Adhiraj Das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26650" y="6250000"/>
            <a:ext cx="3300000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Tailoring and Export</a:t>
            </a:r>
          </a:p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BWU/BTD/23/009</a:t>
            </a:r>
          </a:p>
        </p:txBody>
      </p:sp>
      <p:grpSp>
        <p:nvGrpSpPr>
          <p:cNvPr id="31" name="Group 14"/>
          <p:cNvGrpSpPr>
            <a:grpSpLocks noChangeAspect="1"/>
          </p:cNvGrpSpPr>
          <p:nvPr/>
        </p:nvGrpSpPr>
        <p:grpSpPr>
          <a:xfrm>
            <a:off x="14359300" y="2500000"/>
            <a:ext cx="2900000" cy="2900000"/>
            <a:chOff x="0" y="0"/>
            <a:chExt cx="8790178" cy="8790178"/>
          </a:xfrm>
        </p:grpSpPr>
        <p:sp>
          <p:nvSpPr>
            <p:cNvPr id="33" name="Freeform 15"/>
            <p:cNvSpPr/>
            <p:nvPr/>
          </p:nvSpPr>
          <p:spPr>
            <a:xfrm>
              <a:off x="149225" y="149225"/>
              <a:ext cx="8491728" cy="8491728"/>
            </a:xfrm>
            <a:custGeom>
              <a:avLst/>
              <a:gdLst/>
              <a:ahLst/>
              <a:cxnLst/>
              <a:rect l="l" t="t" r="r" b="b"/>
              <a:pathLst>
                <a:path w="8491728" h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" name="Freeform 16"/>
            <p:cNvSpPr/>
            <p:nvPr/>
          </p:nvSpPr>
          <p:spPr>
            <a:xfrm>
              <a:off x="0" y="0"/>
              <a:ext cx="8790178" cy="8790178"/>
            </a:xfrm>
            <a:custGeom>
              <a:avLst/>
              <a:gdLst/>
              <a:ahLst/>
              <a:cxnLst/>
              <a:rect l="l" t="t" r="r" b="b"/>
              <a:pathLst>
                <a:path w="8790178" h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43" name="Freeform 20"/>
          <p:cNvSpPr/>
          <p:nvPr/>
        </p:nvSpPr>
        <p:spPr>
          <a:xfrm>
            <a:off x="15496954" y="7500000"/>
            <a:ext cx="624692" cy="623129"/>
          </a:xfrm>
          <a:custGeom>
            <a:avLst/>
            <a:gdLst/>
            <a:ahLst/>
            <a:cxnLst/>
            <a:rect l="l" t="t" r="r" b="b"/>
            <a:pathLst>
              <a:path w="624692" h="623129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7870" b="-122462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5" name="TextBox 29"/>
          <p:cNvSpPr txBox="1"/>
          <p:nvPr/>
        </p:nvSpPr>
        <p:spPr>
          <a:xfrm>
            <a:off x="14159300" y="5750000"/>
            <a:ext cx="3300000" cy="33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Tiyasha Baidya</a:t>
            </a:r>
          </a:p>
        </p:txBody>
      </p:sp>
      <p:sp>
        <p:nvSpPr>
          <p:cNvPr id="48" name="TextBox 30"/>
          <p:cNvSpPr txBox="1"/>
          <p:nvPr/>
        </p:nvSpPr>
        <p:spPr>
          <a:xfrm>
            <a:off x="14159300" y="6250000"/>
            <a:ext cx="3300000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GenAI, Privacy and Fairness</a:t>
            </a:r>
          </a:p>
          <a:p>
            <a:pPr algn="ctr">
              <a:lnSpc>
                <a:spcPts val="2661"/>
              </a:lnSpc>
            </a:pPr>
            <a:r>
              <a:rPr lang="en-US" sz="1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BWU/BTD/23/025</a:t>
            </a:r>
          </a:p>
        </p:txBody>
      </p:sp>
      <p:sp>
        <p:nvSpPr>
          <p:cNvPr id="49" name="TextBox 21"/>
          <p:cNvSpPr txBox="1"/>
          <p:nvPr/>
        </p:nvSpPr>
        <p:spPr>
          <a:xfrm>
            <a:off x="1028700" y="3530000"/>
            <a:ext cx="2900000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6000" spc="-458">
                <a:solidFill>
                  <a:srgbClr val="F5F1EA"/>
                </a:solidFill>
                <a:latin typeface="Archivo Black"/>
                <a:ea typeface="Archivo Black"/>
                <a:cs typeface="Archivo Black"/>
                <a:sym typeface="Archivo Black"/>
              </a:rPr>
              <a:t>DH</a:t>
            </a:r>
          </a:p>
        </p:txBody>
      </p:sp>
      <p:sp>
        <p:nvSpPr>
          <p:cNvPr id="50" name="TextBox 21"/>
          <p:cNvSpPr txBox="1"/>
          <p:nvPr/>
        </p:nvSpPr>
        <p:spPr>
          <a:xfrm>
            <a:off x="4361350" y="3530000"/>
            <a:ext cx="2900000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6000" spc="-458">
                <a:solidFill>
                  <a:srgbClr val="F5F1EA"/>
                </a:solidFill>
                <a:latin typeface="Archivo Black"/>
                <a:ea typeface="Archivo Black"/>
                <a:cs typeface="Archivo Black"/>
                <a:sym typeface="Archivo Black"/>
              </a:rPr>
              <a:t>IM</a:t>
            </a:r>
          </a:p>
        </p:txBody>
      </p:sp>
      <p:sp>
        <p:nvSpPr>
          <p:cNvPr id="51" name="TextBox 21"/>
          <p:cNvSpPr txBox="1"/>
          <p:nvPr/>
        </p:nvSpPr>
        <p:spPr>
          <a:xfrm>
            <a:off x="7694000" y="3530000"/>
            <a:ext cx="2900000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6000" spc="-458">
                <a:solidFill>
                  <a:srgbClr val="F5F1EA"/>
                </a:solidFill>
                <a:latin typeface="Archivo Black"/>
                <a:ea typeface="Archivo Black"/>
                <a:cs typeface="Archivo Black"/>
                <a:sym typeface="Archivo Black"/>
              </a:rPr>
              <a:t>SD</a:t>
            </a:r>
          </a:p>
        </p:txBody>
      </p:sp>
      <p:sp>
        <p:nvSpPr>
          <p:cNvPr id="52" name="TextBox 21"/>
          <p:cNvSpPr txBox="1"/>
          <p:nvPr/>
        </p:nvSpPr>
        <p:spPr>
          <a:xfrm>
            <a:off x="11026650" y="3530000"/>
            <a:ext cx="2900000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6000" spc="-458">
                <a:solidFill>
                  <a:srgbClr val="F5F1EA"/>
                </a:solidFill>
                <a:latin typeface="Archivo Black"/>
                <a:ea typeface="Archivo Black"/>
                <a:cs typeface="Archivo Black"/>
                <a:sym typeface="Archivo Black"/>
              </a:rPr>
              <a:t>AD</a:t>
            </a:r>
          </a:p>
        </p:txBody>
      </p:sp>
      <p:sp>
        <p:nvSpPr>
          <p:cNvPr id="53" name="TextBox 21"/>
          <p:cNvSpPr txBox="1"/>
          <p:nvPr/>
        </p:nvSpPr>
        <p:spPr>
          <a:xfrm>
            <a:off x="14359300" y="3530000"/>
            <a:ext cx="2900000" cy="785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6000" spc="-458">
                <a:solidFill>
                  <a:srgbClr val="F5F1EA"/>
                </a:solidFill>
                <a:latin typeface="Archivo Black"/>
                <a:ea typeface="Archivo Black"/>
                <a:cs typeface="Archivo Black"/>
                <a:sym typeface="Archivo Black"/>
              </a:rPr>
              <a:t>TB</a:t>
            </a:r>
          </a:p>
        </p:txBody>
      </p:sp>
      <p:sp>
        <p:nvSpPr>
          <p:cNvPr id="54" name="TextBox 25"/>
          <p:cNvSpPr txBox="1"/>
          <p:nvPr/>
        </p:nvSpPr>
        <p:spPr>
          <a:xfrm>
            <a:off x="1028700" y="8930000"/>
            <a:ext cx="16230600" cy="31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7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Under the guidance of Mr. Mahendra Dutta, Project Engineer &amp; Industry Mentor, Ardent Computech Pvt. Ltd.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64" b="-336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028700" y="2739036"/>
            <a:ext cx="7203393" cy="662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938218" y="981075"/>
            <a:ext cx="4321082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20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13/13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05590" y="8892540"/>
            <a:ext cx="575371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Brainware University, Kolkata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8724909"/>
            <a:ext cx="18288000" cy="809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0" y="9253550"/>
            <a:ext cx="18288000" cy="809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028700" y="4787213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GitHub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78247" y="4761178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2100">
                <a:latin typeface="Garet"/>
              </a:rPr>
              <a:t>github.com/dhrubojyotihazra/Noetrix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5321935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Live demo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178247" y="5295900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noetrix-virid.vercel.app</a:t>
            </a:r>
            <a:endParaRPr lang="en-US" sz="209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5914573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API docs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78247" y="5888538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9"/>
              </a:lnSpc>
              <a:spcBef>
                <a:spcPct val="0"/>
              </a:spcBef>
            </a:pPr>
            <a:r>
              <a:rPr lang="en-US" sz="2099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noetrix-api.onrender.com/docs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6507211"/>
            <a:ext cx="214954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Mentor org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78247" y="6481176"/>
            <a:ext cx="5362304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9"/>
              </a:lnSpc>
              <a:spcBef>
                <a:spcPct val="0"/>
              </a:spcBef>
            </a:pP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Ardent </a:t>
            </a:r>
            <a:r>
              <a:rPr lang="en-US" sz="2099" u="none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Computech</a:t>
            </a: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Pvt. Ltd., 398 </a:t>
            </a:r>
            <a:r>
              <a:rPr lang="en-US" sz="2099" u="none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Ramkrishnapur</a:t>
            </a: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Road, </a:t>
            </a:r>
            <a:r>
              <a:rPr lang="en-US" sz="2099" u="none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Barasat</a:t>
            </a:r>
            <a:r>
              <a:rPr lang="en-US" sz="2099" u="none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North 24 Parganas, Kolkata, West Bengal - 700 125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3852915"/>
            <a:ext cx="476468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2000" b="1" u="none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772</Words>
  <Application>Microsoft Office PowerPoint</Application>
  <PresentationFormat>Custom</PresentationFormat>
  <Paragraphs>156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Wingdings</vt:lpstr>
      <vt:lpstr>Arial</vt:lpstr>
      <vt:lpstr>Calibri</vt:lpstr>
      <vt:lpstr>Garet</vt:lpstr>
      <vt:lpstr>Garet Bold</vt:lpstr>
      <vt:lpstr>Garet Light</vt:lpstr>
      <vt:lpstr>Archivo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and Black Minimalist Project Deck Presentation</dc:title>
  <dc:creator>RUBI HAZRA</dc:creator>
  <cp:lastModifiedBy>Dhrubojyoti Hazra</cp:lastModifiedBy>
  <cp:revision>3</cp:revision>
  <dcterms:created xsi:type="dcterms:W3CDTF">2006-08-16T00:00:00Z</dcterms:created>
  <dcterms:modified xsi:type="dcterms:W3CDTF">2026-10-11T17:03:23Z</dcterms:modified>
  <dc:identifier>DAHXs8ylkO4</dc:identifier>
</cp:coreProperties>
</file>